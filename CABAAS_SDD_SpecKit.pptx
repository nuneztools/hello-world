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14400"/>
            <a:ext cx="2926080" cy="55595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10607040" y="3931920"/>
            <a:ext cx="320040" cy="36576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</a:t>
            </a:r>
            <a:pPr indent="0" marL="0">
              <a:buNone/>
            </a:pPr>
            <a:r>
              <a:rPr lang="en-US" sz="2200" b="1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SDD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646920" y="384048"/>
            <a:ext cx="45720" cy="621792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802368" y="3840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POSIBILIDADES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 para discusión interna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6419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   </a:t>
            </a:r>
            <a:pPr algn="r" indent="0" marL="0">
              <a:buNone/>
            </a:pPr>
            <a:r>
              <a:rPr lang="en-US" sz="900" b="1" spc="300" kern="0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60020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SpecKit vs OpenSpec vs BMAD</a:t>
            </a:r>
            <a:endParaRPr lang="en-US" sz="42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24688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base de SDD encaja mejor para CABAAS?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502920" y="3337560"/>
            <a:ext cx="1783080" cy="150876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520440"/>
            <a:ext cx="658368" cy="6583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48640" y="4389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ESPECIFICACIONES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11480" y="4937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idea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estándar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288" y="3931920"/>
            <a:ext cx="320040" cy="32004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2651760" y="3337560"/>
            <a:ext cx="1783080" cy="150876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3520440"/>
            <a:ext cx="658368" cy="6583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697480" y="4389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 DE TRABAJO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2560320" y="4937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claros,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mejores resultados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3931920"/>
            <a:ext cx="320040" cy="3200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800600" y="3337560"/>
            <a:ext cx="1783080" cy="150876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528" y="3520440"/>
            <a:ext cx="658368" cy="65836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846320" y="4389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4709160" y="4937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Control, calidad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cumplimiento</a:t>
            </a:r>
            <a:endParaRPr lang="en-US" sz="12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3931920"/>
            <a:ext cx="320040" cy="32004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6949440" y="3337560"/>
            <a:ext cx="1783080" cy="150876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368" y="3520440"/>
            <a:ext cx="658368" cy="658368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995160" y="4389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6858000" y="4937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el futuro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502920" y="5650992"/>
            <a:ext cx="45720" cy="411480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731520" y="56235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Gobernanza, escalabilidad y adopción de IA en microservicios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14400"/>
            <a:ext cx="2926080" cy="55595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10607040" y="3931920"/>
            <a:ext cx="320040" cy="36576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</a:t>
            </a:r>
            <a:pPr indent="0" marL="0">
              <a:buNone/>
            </a:pPr>
            <a:r>
              <a:rPr lang="en-US" sz="2200" b="1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SDD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646920" y="384048"/>
            <a:ext cx="45720" cy="621792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802368" y="3840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POSIBILIDADES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 para discusión interna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6419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   </a:t>
            </a:r>
            <a:pPr algn="r" indent="0" marL="0">
              <a:buNone/>
            </a:pPr>
            <a:r>
              <a:rPr lang="en-US" sz="900" b="1" spc="300" kern="0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14300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importa esto para CABAAS?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182880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 no es solo generar código más rápido, sino usar IA con control.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02920" y="246888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566928" cy="56692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1732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731520" y="3364992"/>
            <a:ext cx="233172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3152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con side effects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Integraciones financieras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sobre legacy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520440" y="246888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633472"/>
            <a:ext cx="566928" cy="56692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43484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</a:t>
            </a:r>
            <a:endParaRPr lang="en-US" sz="2100" dirty="0"/>
          </a:p>
        </p:txBody>
      </p:sp>
      <p:sp>
        <p:nvSpPr>
          <p:cNvPr id="22" name="Shape 17"/>
          <p:cNvSpPr/>
          <p:nvPr/>
        </p:nvSpPr>
        <p:spPr>
          <a:xfrm>
            <a:off x="3749040" y="3364992"/>
            <a:ext cx="233172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74904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Estandarizar prácticas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Controlar cambios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Conservar evidencia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537960" y="2468880"/>
            <a:ext cx="2788920" cy="20574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633472"/>
            <a:ext cx="566928" cy="56692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52360" y="2651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</a:t>
            </a:r>
            <a:endParaRPr lang="en-US" sz="2100" dirty="0"/>
          </a:p>
        </p:txBody>
      </p:sp>
      <p:sp>
        <p:nvSpPr>
          <p:cNvPr id="27" name="Shape 21"/>
          <p:cNvSpPr/>
          <p:nvPr/>
        </p:nvSpPr>
        <p:spPr>
          <a:xfrm>
            <a:off x="6766560" y="3364992"/>
            <a:ext cx="233172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76656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 servicios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mixtos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consistente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02920" y="4709160"/>
            <a:ext cx="8823960" cy="1051560"/>
          </a:xfrm>
          <a:prstGeom prst="roundRect">
            <a:avLst>
              <a:gd name="adj" fmla="val 10435"/>
            </a:avLst>
          </a:prstGeom>
          <a:solidFill>
            <a:srgbClr val="FDEDEF"/>
          </a:solidFill>
          <a:ln w="12700">
            <a:solidFill>
              <a:srgbClr val="FDEDE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92040"/>
            <a:ext cx="658368" cy="658368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600200" y="4892040"/>
            <a:ext cx="45720" cy="685800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1783080" y="48006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mi experiencia en Experian participé en una iniciativa de evaluación y adopción de Spec-Driven Development. El aprendizaje trasladable para CABAAS es que una práctica de IA necesita </a:t>
            </a:r>
            <a:pPr indent="0" marL="0">
              <a:buNone/>
            </a:pPr>
            <a:r>
              <a:rPr lang="en-US" sz="135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gobernanza, trazabilidad y estandarización.</a:t>
            </a:r>
            <a:endParaRPr lang="en-US" sz="1350" dirty="0"/>
          </a:p>
        </p:txBody>
      </p:sp>
      <p:sp>
        <p:nvSpPr>
          <p:cNvPr id="33" name="Shape 26"/>
          <p:cNvSpPr/>
          <p:nvPr/>
        </p:nvSpPr>
        <p:spPr>
          <a:xfrm>
            <a:off x="502920" y="5897880"/>
            <a:ext cx="45720" cy="320040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85800" y="587044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CABAAS no basta con generar; necesitamos consistencia entre microservicios.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14400"/>
            <a:ext cx="2926080" cy="55595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10607040" y="3931920"/>
            <a:ext cx="320040" cy="36576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</a:t>
            </a:r>
            <a:pPr indent="0" marL="0">
              <a:buNone/>
            </a:pPr>
            <a:r>
              <a:rPr lang="en-US" sz="2200" b="1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SDD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646920" y="384048"/>
            <a:ext cx="45720" cy="621792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802368" y="3840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POSIBILIDADES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 para discusión interna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6419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   </a:t>
            </a:r>
            <a:pPr algn="r" indent="0" marL="0">
              <a:buNone/>
            </a:pPr>
            <a:r>
              <a:rPr lang="en-US" sz="900" b="1" spc="300" kern="0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1887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base (1): Template y Preset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502920" y="2103120"/>
            <a:ext cx="4297680" cy="347472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731520" cy="7315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91640" y="2240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1691640" y="27614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 base de un artefacto. Define la estructura inicial de un documento o salida.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31520" y="356616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7588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80160" y="3675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plan-template.md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280160" y="40050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Contexto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Objetivo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Riesgos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Pruebas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31520" y="4983480"/>
            <a:ext cx="384048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5074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para estandarizar cómo se ve un plan, spec o task list.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074920" y="2103120"/>
            <a:ext cx="4389120" cy="347472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2286000"/>
            <a:ext cx="731520" cy="7315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263640" y="2240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6263640" y="27614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reusable de reglas, templates o ajustes que adapta el framework a un contexto específico.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303520" y="356616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67588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85216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preset cabaas-financial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5852160" y="40050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agrega análisis de idempotencia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agrega sección de side effects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exige revisión humana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5303520" y="4983480"/>
            <a:ext cx="393192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303520" y="5074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para aplicar convenciones del equipo o del dominio.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02920" y="5715000"/>
            <a:ext cx="8961120" cy="502920"/>
          </a:xfrm>
          <a:prstGeom prst="roundRect">
            <a:avLst>
              <a:gd name="adj" fmla="val 2181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60720"/>
            <a:ext cx="411480" cy="41148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1325880" y="5788152"/>
            <a:ext cx="45720" cy="365760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1508760" y="574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 de recordar: </a:t>
            </a:r>
            <a:pPr indent="0" marL="0">
              <a:buNone/>
            </a:pPr>
            <a:r>
              <a:rPr lang="en-US" sz="150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template da forma; el preset da comportamiento y reglas.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14400"/>
            <a:ext cx="2926080" cy="55595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10607040" y="3931920"/>
            <a:ext cx="320040" cy="36576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</a:t>
            </a:r>
            <a:pPr indent="0" marL="0">
              <a:buNone/>
            </a:pPr>
            <a:r>
              <a:rPr lang="en-US" sz="2200" b="1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SDD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646920" y="384048"/>
            <a:ext cx="45720" cy="621792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802368" y="3840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POSIBILIDADES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 para discusión interna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6419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   </a:t>
            </a:r>
            <a:pPr algn="r" indent="0" marL="0">
              <a:buNone/>
            </a:pPr>
            <a:r>
              <a:rPr lang="en-US" sz="900" b="1" spc="300" kern="0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1887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base (2): Workflow y Extension</a:t>
            </a:r>
            <a:endParaRPr lang="en-US" sz="3600" dirty="0"/>
          </a:p>
        </p:txBody>
      </p:sp>
      <p:sp>
        <p:nvSpPr>
          <p:cNvPr id="13" name="Shape 10"/>
          <p:cNvSpPr/>
          <p:nvPr/>
        </p:nvSpPr>
        <p:spPr>
          <a:xfrm>
            <a:off x="502920" y="2103120"/>
            <a:ext cx="4846320" cy="347472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80"/>
            <a:ext cx="658368" cy="65836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554480" y="2286000"/>
            <a:ext cx="45720" cy="548640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737360" y="22677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28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de pasos para ejecutar un tipo de trabajo.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85800" y="3611880"/>
            <a:ext cx="621792" cy="960120"/>
          </a:xfrm>
          <a:prstGeom prst="roundRect">
            <a:avLst>
              <a:gd name="adj" fmla="val 11765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03320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67512" y="408736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legacy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1289304" y="388620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1435608" y="3611880"/>
            <a:ext cx="621792" cy="960120"/>
          </a:xfrm>
          <a:prstGeom prst="roundRect">
            <a:avLst>
              <a:gd name="adj" fmla="val 11765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056" y="3703320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17320" y="408736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2039112" y="388620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2185416" y="3611880"/>
            <a:ext cx="621792" cy="960120"/>
          </a:xfrm>
          <a:prstGeom prst="roundRect">
            <a:avLst>
              <a:gd name="adj" fmla="val 11765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0864" y="3703320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167128" y="408736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850" dirty="0"/>
          </a:p>
        </p:txBody>
      </p:sp>
      <p:sp>
        <p:nvSpPr>
          <p:cNvPr id="29" name="Text 22"/>
          <p:cNvSpPr txBox="1"/>
          <p:nvPr/>
        </p:nvSpPr>
        <p:spPr>
          <a:xfrm>
            <a:off x="2788920" y="388620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2935224" y="3611880"/>
            <a:ext cx="621792" cy="960120"/>
          </a:xfrm>
          <a:prstGeom prst="roundRect">
            <a:avLst>
              <a:gd name="adj" fmla="val 11765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0672" y="3703320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916936" y="408736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850" dirty="0"/>
          </a:p>
        </p:txBody>
      </p:sp>
      <p:sp>
        <p:nvSpPr>
          <p:cNvPr id="33" name="Text 25"/>
          <p:cNvSpPr txBox="1"/>
          <p:nvPr/>
        </p:nvSpPr>
        <p:spPr>
          <a:xfrm>
            <a:off x="3538728" y="388620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3685032" y="3611880"/>
            <a:ext cx="621792" cy="960120"/>
          </a:xfrm>
          <a:prstGeom prst="roundRect">
            <a:avLst>
              <a:gd name="adj" fmla="val 11765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3703320"/>
            <a:ext cx="310896" cy="31089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3666744" y="408736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850" dirty="0"/>
          </a:p>
        </p:txBody>
      </p:sp>
      <p:sp>
        <p:nvSpPr>
          <p:cNvPr id="37" name="Text 28"/>
          <p:cNvSpPr txBox="1"/>
          <p:nvPr/>
        </p:nvSpPr>
        <p:spPr>
          <a:xfrm>
            <a:off x="4288536" y="388620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8" name="Shape 29"/>
          <p:cNvSpPr/>
          <p:nvPr/>
        </p:nvSpPr>
        <p:spPr>
          <a:xfrm>
            <a:off x="4434840" y="3611880"/>
            <a:ext cx="621792" cy="960120"/>
          </a:xfrm>
          <a:prstGeom prst="roundRect">
            <a:avLst>
              <a:gd name="adj" fmla="val 11765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0288" y="3703320"/>
            <a:ext cx="310896" cy="31089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4416552" y="4087368"/>
            <a:ext cx="658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850" dirty="0"/>
          </a:p>
        </p:txBody>
      </p:sp>
      <p:sp>
        <p:nvSpPr>
          <p:cNvPr id="41" name="Shape 31"/>
          <p:cNvSpPr/>
          <p:nvPr/>
        </p:nvSpPr>
        <p:spPr>
          <a:xfrm>
            <a:off x="731520" y="4800600"/>
            <a:ext cx="438912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731520" y="48920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para guiar cómo avanza una feature, bug fix o small change.</a:t>
            </a:r>
            <a:endParaRPr lang="en-US" sz="1300" dirty="0"/>
          </a:p>
        </p:txBody>
      </p:sp>
      <p:sp>
        <p:nvSpPr>
          <p:cNvPr id="43" name="Shape 33"/>
          <p:cNvSpPr/>
          <p:nvPr/>
        </p:nvSpPr>
        <p:spPr>
          <a:xfrm>
            <a:off x="5577840" y="210312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0" y="2240280"/>
            <a:ext cx="658368" cy="658368"/>
          </a:xfrm>
          <a:prstGeom prst="rect">
            <a:avLst/>
          </a:prstGeom>
        </p:spPr>
      </p:pic>
      <p:sp>
        <p:nvSpPr>
          <p:cNvPr id="45" name="Shape 34"/>
          <p:cNvSpPr/>
          <p:nvPr/>
        </p:nvSpPr>
        <p:spPr>
          <a:xfrm>
            <a:off x="6583680" y="2286000"/>
            <a:ext cx="45720" cy="548640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6766560" y="22677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</a:t>
            </a:r>
            <a:endParaRPr lang="en-US" sz="2800" dirty="0"/>
          </a:p>
        </p:txBody>
      </p:sp>
      <p:sp>
        <p:nvSpPr>
          <p:cNvPr id="47" name="Text 36"/>
          <p:cNvSpPr txBox="1"/>
          <p:nvPr/>
        </p:nvSpPr>
        <p:spPr>
          <a:xfrm>
            <a:off x="5760720" y="29260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adicional que amplía el framework para un caso de uso específico.</a:t>
            </a:r>
            <a:endParaRPr lang="en-US" sz="1300" dirty="0"/>
          </a:p>
        </p:txBody>
      </p:sp>
      <p:sp>
        <p:nvSpPr>
          <p:cNvPr id="48" name="Shape 37"/>
          <p:cNvSpPr/>
          <p:nvPr/>
        </p:nvSpPr>
        <p:spPr>
          <a:xfrm>
            <a:off x="5760720" y="356616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7880" y="3703320"/>
            <a:ext cx="566928" cy="566928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6629400" y="3675888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Fix Extension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· fix · test</a:t>
            </a:r>
            <a:endParaRPr lang="en-US" sz="1300" dirty="0"/>
          </a:p>
        </p:txBody>
      </p:sp>
      <p:sp>
        <p:nvSpPr>
          <p:cNvPr id="51" name="Shape 39"/>
          <p:cNvSpPr/>
          <p:nvPr/>
        </p:nvSpPr>
        <p:spPr>
          <a:xfrm>
            <a:off x="5760720" y="452628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4590288"/>
            <a:ext cx="411480" cy="411480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6629400" y="45537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extension: </a:t>
            </a:r>
            <a:pPr indent="0" marL="0">
              <a:buNone/>
            </a:pPr>
            <a:r>
              <a:rPr lang="en-US" sz="115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 decisiones arquitectónicas</a:t>
            </a:r>
            <a:endParaRPr lang="en-US" sz="1150" dirty="0"/>
          </a:p>
        </p:txBody>
      </p:sp>
      <p:sp>
        <p:nvSpPr>
          <p:cNvPr id="54" name="Text 41"/>
          <p:cNvSpPr txBox="1"/>
          <p:nvPr/>
        </p:nvSpPr>
        <p:spPr>
          <a:xfrm>
            <a:off x="5760720" y="5138928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Sirve para agregar comportamientos especializados sin reinventar el proceso.</a:t>
            </a:r>
            <a:endParaRPr lang="en-US" sz="1150" dirty="0"/>
          </a:p>
        </p:txBody>
      </p:sp>
      <p:sp>
        <p:nvSpPr>
          <p:cNvPr id="55" name="Shape 42"/>
          <p:cNvSpPr/>
          <p:nvPr/>
        </p:nvSpPr>
        <p:spPr>
          <a:xfrm>
            <a:off x="502920" y="5715000"/>
            <a:ext cx="9006840" cy="502920"/>
          </a:xfrm>
          <a:prstGeom prst="roundRect">
            <a:avLst>
              <a:gd name="adj" fmla="val 2181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" y="5779008"/>
            <a:ext cx="384048" cy="384048"/>
          </a:xfrm>
          <a:prstGeom prst="rect">
            <a:avLst/>
          </a:prstGeom>
        </p:spPr>
      </p:pic>
      <p:sp>
        <p:nvSpPr>
          <p:cNvPr id="57" name="Shape 43"/>
          <p:cNvSpPr/>
          <p:nvPr/>
        </p:nvSpPr>
        <p:spPr>
          <a:xfrm>
            <a:off x="1325880" y="5788152"/>
            <a:ext cx="45720" cy="365760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58" name="Text 44"/>
          <p:cNvSpPr txBox="1"/>
          <p:nvPr/>
        </p:nvSpPr>
        <p:spPr>
          <a:xfrm>
            <a:off x="1508760" y="574243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 de recordar: </a:t>
            </a:r>
            <a:pPr indent="0" marL="0">
              <a:buNone/>
            </a:pPr>
            <a:r>
              <a:rPr lang="en-US" sz="150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workflow ordena el proceso; la extension agrega capacidades.</a:t>
            </a:r>
            <a:endParaRPr lang="en-US" sz="1500" dirty="0"/>
          </a:p>
        </p:txBody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61120" y="5779008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</a:t>
            </a:r>
            <a:pPr indent="0" marL="0">
              <a:buNone/>
            </a:pPr>
            <a:r>
              <a:rPr lang="en-US" sz="2200" b="1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SDD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45720" cy="621792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02368" y="3840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POSIBILIDADES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 para discusión interna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6419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   </a:t>
            </a:r>
            <a:pPr algn="r" indent="0" marL="0">
              <a:buNone/>
            </a:pPr>
            <a:r>
              <a:rPr lang="en-US" sz="900" b="1" spc="300" kern="0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14300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 de la práctica: Catálogo, Registry y Bundle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0"/>
            <a:ext cx="685800" cy="6858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0020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23957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componentes aprobados o descubiertos por la organización.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31520" y="3063240"/>
            <a:ext cx="306324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5468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17320" y="31272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presets, workflows o extensiones existen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343400" y="1828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11680"/>
            <a:ext cx="685800" cy="6858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4068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5440680" y="23957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 para publicar, versionar e instalar componentes reutilizables.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0" y="3063240"/>
            <a:ext cx="306324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15468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257800" y="31272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vive cada componente y qué versión usar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183880" y="18288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011680"/>
            <a:ext cx="685800" cy="6858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28116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</a:t>
            </a:r>
            <a:endParaRPr lang="en-US" sz="2200" dirty="0"/>
          </a:p>
        </p:txBody>
      </p:sp>
      <p:sp>
        <p:nvSpPr>
          <p:cNvPr id="27" name="Text 20"/>
          <p:cNvSpPr txBox="1"/>
          <p:nvPr/>
        </p:nvSpPr>
        <p:spPr>
          <a:xfrm>
            <a:off x="9281160" y="23957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 instalable que agrupa presets, workflows y extensiones.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412480" y="3063240"/>
            <a:ext cx="306324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3154680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098280" y="312724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rápido y configuración consistente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502920" y="3767328"/>
            <a:ext cx="45720" cy="274320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58368" y="3730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 estructura en un repositorio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502920" y="416052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58368" y="426110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41248" y="426110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1024128" y="426110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777240" y="4434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cabaas-sdd-engineering/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catalogs/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presets/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workflows/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extensions/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bundles/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4663440" y="3767328"/>
            <a:ext cx="45720" cy="274320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4818888" y="3730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Escenarios de uso</a:t>
            </a:r>
            <a:endParaRPr lang="en-US" sz="1500" dirty="0"/>
          </a:p>
        </p:txBody>
      </p:sp>
      <p:sp>
        <p:nvSpPr>
          <p:cNvPr id="40" name="Shape 32"/>
          <p:cNvSpPr/>
          <p:nvPr/>
        </p:nvSpPr>
        <p:spPr>
          <a:xfrm>
            <a:off x="4663440" y="4160520"/>
            <a:ext cx="2240280" cy="1325880"/>
          </a:xfrm>
          <a:prstGeom prst="roundRect">
            <a:avLst>
              <a:gd name="adj" fmla="val 827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4526280"/>
            <a:ext cx="548640" cy="54864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5486400" y="4251960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nuevo → instala bundle y empieza más rápido</a:t>
            </a:r>
            <a:endParaRPr lang="en-US" sz="1150" dirty="0"/>
          </a:p>
        </p:txBody>
      </p:sp>
      <p:sp>
        <p:nvSpPr>
          <p:cNvPr id="43" name="Shape 34"/>
          <p:cNvSpPr/>
          <p:nvPr/>
        </p:nvSpPr>
        <p:spPr>
          <a:xfrm>
            <a:off x="7040880" y="4160520"/>
            <a:ext cx="2240280" cy="1325880"/>
          </a:xfrm>
          <a:prstGeom prst="roundRect">
            <a:avLst>
              <a:gd name="adj" fmla="val 827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5472" y="4526280"/>
            <a:ext cx="548640" cy="54864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863840" y="4251960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regla institucional → se actualiza un preset</a:t>
            </a:r>
            <a:endParaRPr lang="en-US" sz="1150" dirty="0"/>
          </a:p>
        </p:txBody>
      </p:sp>
      <p:sp>
        <p:nvSpPr>
          <p:cNvPr id="46" name="Shape 36"/>
          <p:cNvSpPr/>
          <p:nvPr/>
        </p:nvSpPr>
        <p:spPr>
          <a:xfrm>
            <a:off x="9418320" y="4160520"/>
            <a:ext cx="2240280" cy="1325880"/>
          </a:xfrm>
          <a:prstGeom prst="roundRect">
            <a:avLst>
              <a:gd name="adj" fmla="val 827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82912" y="4526280"/>
            <a:ext cx="548640" cy="54864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10241280" y="4251960"/>
            <a:ext cx="1325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distintos → comparten la misma base</a:t>
            </a:r>
            <a:endParaRPr lang="en-US" sz="1150" dirty="0"/>
          </a:p>
        </p:txBody>
      </p:sp>
      <p:sp>
        <p:nvSpPr>
          <p:cNvPr id="49" name="Shape 38"/>
          <p:cNvSpPr/>
          <p:nvPr/>
        </p:nvSpPr>
        <p:spPr>
          <a:xfrm>
            <a:off x="502920" y="5623560"/>
            <a:ext cx="11201400" cy="548640"/>
          </a:xfrm>
          <a:prstGeom prst="roundRect">
            <a:avLst>
              <a:gd name="adj" fmla="val 20000"/>
            </a:avLst>
          </a:prstGeom>
          <a:solidFill>
            <a:srgbClr val="FDEDEF"/>
          </a:solidFill>
          <a:ln w="12700">
            <a:solidFill>
              <a:srgbClr val="FDEDEF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696712"/>
            <a:ext cx="402336" cy="402336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1417320" y="5724144"/>
            <a:ext cx="45720" cy="347472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52" name="Text 40"/>
          <p:cNvSpPr txBox="1"/>
          <p:nvPr/>
        </p:nvSpPr>
        <p:spPr>
          <a:xfrm>
            <a:off x="1600200" y="56509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es donde SpecKit se ve especialmente fuerte para gobernanza</a:t>
            </a:r>
            <a:pPr indent="0" marL="0">
              <a:buNone/>
            </a:pPr>
            <a:r>
              <a:rPr lang="en-US" sz="160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homologación.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14400"/>
            <a:ext cx="2926080" cy="55595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10607040" y="3931920"/>
            <a:ext cx="320040" cy="36576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</a:t>
            </a:r>
            <a:pPr indent="0" marL="0">
              <a:buNone/>
            </a:pPr>
            <a:r>
              <a:rPr lang="en-US" sz="2200" b="1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SDD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646920" y="384048"/>
            <a:ext cx="45720" cy="621792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802368" y="3840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POSIBILIDADES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 para discusión interna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6419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   </a:t>
            </a:r>
            <a:pPr algn="r" indent="0" marL="0">
              <a:buNone/>
            </a:pPr>
            <a:r>
              <a:rPr lang="en-US" sz="900" b="1" spc="300" kern="0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18872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SpecKit gana fuerza en la comparativa?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6675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78308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5F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SpecKit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OpenSpec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F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Fission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BMad Code Org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F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~137k stars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~69k stars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~53k stars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Ecosistema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F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Newsletter + 100+ extensiones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tracción creciente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amplio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Gobernanza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F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presets, bundles, workflows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configuración y schemas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módulos y agentes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Registry / distribución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5F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más maduro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todavía evolucionando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menos homogéneo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496312"/>
            <a:ext cx="274320" cy="27432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044952"/>
            <a:ext cx="274320" cy="27432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593592"/>
            <a:ext cx="274320" cy="27432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142232"/>
            <a:ext cx="274320" cy="27432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4690872"/>
            <a:ext cx="274320" cy="27432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7406640" y="1920240"/>
            <a:ext cx="2286000" cy="3200400"/>
          </a:xfrm>
          <a:prstGeom prst="roundRect">
            <a:avLst>
              <a:gd name="adj" fmla="val 48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1"/>
          <p:cNvSpPr txBox="1"/>
          <p:nvPr/>
        </p:nvSpPr>
        <p:spPr>
          <a:xfrm>
            <a:off x="754380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CREDIBILIDAD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EL FUTURO</a:t>
            </a:r>
            <a:endParaRPr lang="en-US" sz="1100" dirty="0"/>
          </a:p>
        </p:txBody>
      </p:sp>
      <p:sp>
        <p:nvSpPr>
          <p:cNvPr id="21" name="Shape 12"/>
          <p:cNvSpPr/>
          <p:nvPr/>
        </p:nvSpPr>
        <p:spPr>
          <a:xfrm>
            <a:off x="7516368" y="25786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EAF0"/>
          </a:solidFill>
          <a:ln w="12700">
            <a:solidFill>
              <a:srgbClr val="E6EAF0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2651760"/>
            <a:ext cx="310896" cy="310896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8046720" y="25420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 de GitHub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y continuidad en el tiempo</a:t>
            </a:r>
            <a:endParaRPr lang="en-US" sz="950" dirty="0"/>
          </a:p>
        </p:txBody>
      </p:sp>
      <p:sp>
        <p:nvSpPr>
          <p:cNvPr id="24" name="Shape 14"/>
          <p:cNvSpPr/>
          <p:nvPr/>
        </p:nvSpPr>
        <p:spPr>
          <a:xfrm>
            <a:off x="7516368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EAF0"/>
          </a:solidFill>
          <a:ln w="12700">
            <a:solidFill>
              <a:srgbClr val="E6EAF0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3273552"/>
            <a:ext cx="310896" cy="310896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8046720" y="316382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señal pública de ecosistema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Herramientas, integraciones y adopción real</a:t>
            </a:r>
            <a:endParaRPr lang="en-US" sz="950" dirty="0"/>
          </a:p>
        </p:txBody>
      </p:sp>
      <p:sp>
        <p:nvSpPr>
          <p:cNvPr id="27" name="Shape 16"/>
          <p:cNvSpPr/>
          <p:nvPr/>
        </p:nvSpPr>
        <p:spPr>
          <a:xfrm>
            <a:off x="7516368" y="3822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EAF0"/>
          </a:solidFill>
          <a:ln w="12700">
            <a:solidFill>
              <a:srgbClr val="E6EAF0"/>
            </a:solidFill>
            <a:prstDash val="solid"/>
          </a:ln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3895344"/>
            <a:ext cx="310896" cy="310896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8046720" y="378561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y aportes de terceros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 constante y casos de uso</a:t>
            </a:r>
            <a:endParaRPr lang="en-US" sz="950" dirty="0"/>
          </a:p>
        </p:txBody>
      </p:sp>
      <p:sp>
        <p:nvSpPr>
          <p:cNvPr id="30" name="Shape 18"/>
          <p:cNvSpPr/>
          <p:nvPr/>
        </p:nvSpPr>
        <p:spPr>
          <a:xfrm>
            <a:off x="7516368" y="44439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6EAF0"/>
          </a:solidFill>
          <a:ln w="12700">
            <a:solidFill>
              <a:srgbClr val="E6EAF0"/>
            </a:solidFill>
            <a:prstDash val="solid"/>
          </a:ln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9520" y="4517136"/>
            <a:ext cx="310896" cy="310896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046720" y="440740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historia para homologación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Estándares, prácticas y gobierno más sólido</a:t>
            </a:r>
            <a:endParaRPr lang="en-US" sz="950" dirty="0"/>
          </a:p>
        </p:txBody>
      </p:sp>
      <p:sp>
        <p:nvSpPr>
          <p:cNvPr id="33" name="Shape 20"/>
          <p:cNvSpPr/>
          <p:nvPr/>
        </p:nvSpPr>
        <p:spPr>
          <a:xfrm>
            <a:off x="502920" y="5349240"/>
            <a:ext cx="9052560" cy="640080"/>
          </a:xfrm>
          <a:prstGeom prst="roundRect">
            <a:avLst>
              <a:gd name="adj" fmla="val 17143"/>
            </a:avLst>
          </a:prstGeom>
          <a:solidFill>
            <a:srgbClr val="E6F0FB"/>
          </a:solidFill>
          <a:ln w="12700">
            <a:solidFill>
              <a:srgbClr val="E6F0FB"/>
            </a:solidFill>
            <a:prstDash val="solid"/>
          </a:ln>
        </p:spPr>
      </p:sp>
      <p:sp>
        <p:nvSpPr>
          <p:cNvPr id="34" name="Shape 21"/>
          <p:cNvSpPr/>
          <p:nvPr/>
        </p:nvSpPr>
        <p:spPr>
          <a:xfrm>
            <a:off x="685800" y="5440680"/>
            <a:ext cx="457200" cy="457200"/>
          </a:xfrm>
          <a:prstGeom prst="ellipse">
            <a:avLst/>
          </a:prstGeom>
          <a:solidFill>
            <a:srgbClr val="1F5FAF"/>
          </a:solidFill>
          <a:ln w="12700">
            <a:solidFill>
              <a:srgbClr val="1F5FAF"/>
            </a:solidFill>
            <a:prstDash val="solid"/>
          </a:ln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532120"/>
            <a:ext cx="274320" cy="27432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1325880" y="5376672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trata solo de popularidad; se trata de qué tan bien soporta una adopción organizacional.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</a:t>
            </a:r>
            <a:pPr indent="0" marL="0">
              <a:buNone/>
            </a:pPr>
            <a:r>
              <a:rPr lang="en-US" sz="2200" b="1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SDD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646920" y="384048"/>
            <a:ext cx="45720" cy="621792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02368" y="3840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POSIBILIDADES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 para discusión interna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6419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   </a:t>
            </a:r>
            <a:pPr algn="r" indent="0" marL="0">
              <a:buNone/>
            </a:pPr>
            <a:r>
              <a:rPr lang="en-US" sz="900" b="1" spc="300" kern="0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1887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ya probamos en CABAAS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1097280" cy="109728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71800"/>
            <a:ext cx="548640" cy="5486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86000" y="2194560"/>
            <a:ext cx="0" cy="164592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514600" y="2103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 Gateway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251460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de cache en Redis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2514600" y="2971800"/>
            <a:ext cx="237744" cy="237744"/>
          </a:xfrm>
          <a:prstGeom prst="ellipse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149" y="3019349"/>
            <a:ext cx="142646" cy="14264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880360" y="29260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brownfield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2514600" y="3319272"/>
            <a:ext cx="237744" cy="237744"/>
          </a:xfrm>
          <a:prstGeom prst="ellipse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2149" y="3366821"/>
            <a:ext cx="142646" cy="14264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880360" y="32735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de entender comportamiento actual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2514600" y="3666744"/>
            <a:ext cx="237744" cy="237744"/>
          </a:xfrm>
          <a:prstGeom prst="ellipse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2149" y="3714293"/>
            <a:ext cx="142646" cy="14264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2880360" y="36210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satisfactorio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217920" y="19659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331720"/>
            <a:ext cx="1097280" cy="109728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001000" y="2194560"/>
            <a:ext cx="0" cy="164592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8229600" y="2103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Advance Gap</a:t>
            </a:r>
            <a:endParaRPr lang="en-US" sz="2200" dirty="0"/>
          </a:p>
        </p:txBody>
      </p:sp>
      <p:sp>
        <p:nvSpPr>
          <p:cNvPr id="29" name="Text 21"/>
          <p:cNvSpPr txBox="1"/>
          <p:nvPr/>
        </p:nvSpPr>
        <p:spPr>
          <a:xfrm>
            <a:off x="822960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Orquestación y validaciones</a:t>
            </a:r>
            <a:endParaRPr lang="en-US" sz="1500" dirty="0"/>
          </a:p>
        </p:txBody>
      </p:sp>
      <p:sp>
        <p:nvSpPr>
          <p:cNvPr id="30" name="Shape 22"/>
          <p:cNvSpPr/>
          <p:nvPr/>
        </p:nvSpPr>
        <p:spPr>
          <a:xfrm>
            <a:off x="8229600" y="2971800"/>
            <a:ext cx="237744" cy="237744"/>
          </a:xfrm>
          <a:prstGeom prst="ellipse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149" y="3019349"/>
            <a:ext cx="142646" cy="14264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595360" y="29260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con integración sensible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8229600" y="3319272"/>
            <a:ext cx="237744" cy="237744"/>
          </a:xfrm>
          <a:prstGeom prst="ellipse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7149" y="3366821"/>
            <a:ext cx="142646" cy="142646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595360" y="32735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de mayor claridad previa</a:t>
            </a:r>
            <a:endParaRPr lang="en-US" sz="1300" dirty="0"/>
          </a:p>
        </p:txBody>
      </p:sp>
      <p:sp>
        <p:nvSpPr>
          <p:cNvPr id="36" name="Shape 26"/>
          <p:cNvSpPr/>
          <p:nvPr/>
        </p:nvSpPr>
        <p:spPr>
          <a:xfrm>
            <a:off x="8229600" y="3666744"/>
            <a:ext cx="237744" cy="237744"/>
          </a:xfrm>
          <a:prstGeom prst="ellipse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7149" y="3714293"/>
            <a:ext cx="142646" cy="14264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595360" y="36210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satisfactorio</a:t>
            </a:r>
            <a:endParaRPr lang="en-US" sz="1300" dirty="0"/>
          </a:p>
        </p:txBody>
      </p:sp>
      <p:sp>
        <p:nvSpPr>
          <p:cNvPr id="39" name="Shape 28"/>
          <p:cNvSpPr/>
          <p:nvPr/>
        </p:nvSpPr>
        <p:spPr>
          <a:xfrm>
            <a:off x="502920" y="4206240"/>
            <a:ext cx="11201400" cy="1508760"/>
          </a:xfrm>
          <a:prstGeom prst="roundRect">
            <a:avLst>
              <a:gd name="adj" fmla="val 727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4526280"/>
            <a:ext cx="868680" cy="868680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1874520" y="4389120"/>
            <a:ext cx="0" cy="114300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42" name="Text 30"/>
          <p:cNvSpPr txBox="1"/>
          <p:nvPr/>
        </p:nvSpPr>
        <p:spPr>
          <a:xfrm>
            <a:off x="210312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Aprendizajes</a:t>
            </a:r>
            <a:endParaRPr lang="en-US" sz="2000" dirty="0"/>
          </a:p>
        </p:txBody>
      </p:sp>
      <p:sp>
        <p:nvSpPr>
          <p:cNvPr id="43" name="Shape 31"/>
          <p:cNvSpPr/>
          <p:nvPr/>
        </p:nvSpPr>
        <p:spPr>
          <a:xfrm>
            <a:off x="3977640" y="4425696"/>
            <a:ext cx="237744" cy="237744"/>
          </a:xfrm>
          <a:prstGeom prst="ellipse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25189" y="4473245"/>
            <a:ext cx="142646" cy="142646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4343400" y="437997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SpecKit funcionó bien en legacy</a:t>
            </a:r>
            <a:endParaRPr lang="en-US" sz="1250" dirty="0"/>
          </a:p>
        </p:txBody>
      </p:sp>
      <p:sp>
        <p:nvSpPr>
          <p:cNvPr id="46" name="Shape 33"/>
          <p:cNvSpPr/>
          <p:nvPr/>
        </p:nvSpPr>
        <p:spPr>
          <a:xfrm>
            <a:off x="3977640" y="4828032"/>
            <a:ext cx="237744" cy="237744"/>
          </a:xfrm>
          <a:prstGeom prst="ellipse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25189" y="4875581"/>
            <a:ext cx="142646" cy="142646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4343400" y="47823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estructura ayudó a pensar antes de cambiar</a:t>
            </a:r>
            <a:endParaRPr lang="en-US" sz="1250" dirty="0"/>
          </a:p>
        </p:txBody>
      </p:sp>
      <p:sp>
        <p:nvSpPr>
          <p:cNvPr id="49" name="Shape 35"/>
          <p:cNvSpPr/>
          <p:nvPr/>
        </p:nvSpPr>
        <p:spPr>
          <a:xfrm>
            <a:off x="3977640" y="5230368"/>
            <a:ext cx="237744" cy="237744"/>
          </a:xfrm>
          <a:prstGeom prst="ellipse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5189" y="5277917"/>
            <a:ext cx="142646" cy="142646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4343400" y="518464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 servir como base para homologar SDD con otros devs</a:t>
            </a:r>
            <a:endParaRPr lang="en-US" sz="1250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64040" y="4279392"/>
            <a:ext cx="365760" cy="365760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9921240" y="42793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ENGINEER</a:t>
            </a:r>
            <a:endParaRPr lang="en-US" sz="800" dirty="0"/>
          </a:p>
          <a:p>
            <a:pPr indent="0" marL="0">
              <a:buNone/>
            </a:pPr>
            <a:r>
              <a:rPr lang="en-US" sz="800" b="1" spc="1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TECH LEAD</a:t>
            </a:r>
            <a:endParaRPr lang="en-US" sz="800" dirty="0"/>
          </a:p>
        </p:txBody>
      </p:sp>
      <p:sp>
        <p:nvSpPr>
          <p:cNvPr id="54" name="Shape 38"/>
          <p:cNvSpPr/>
          <p:nvPr/>
        </p:nvSpPr>
        <p:spPr>
          <a:xfrm>
            <a:off x="9646920" y="4663440"/>
            <a:ext cx="0" cy="109728"/>
          </a:xfrm>
          <a:prstGeom prst="line">
            <a:avLst/>
          </a:prstGeom>
          <a:noFill/>
          <a:ln w="12700">
            <a:solidFill>
              <a:srgbClr val="0E2340"/>
            </a:solidFill>
            <a:prstDash val="solid"/>
          </a:ln>
        </p:spPr>
      </p:sp>
      <p:sp>
        <p:nvSpPr>
          <p:cNvPr id="55" name="Shape 39"/>
          <p:cNvSpPr/>
          <p:nvPr/>
        </p:nvSpPr>
        <p:spPr>
          <a:xfrm>
            <a:off x="8823960" y="4773168"/>
            <a:ext cx="2514600" cy="0"/>
          </a:xfrm>
          <a:prstGeom prst="line">
            <a:avLst/>
          </a:prstGeom>
          <a:noFill/>
          <a:ln w="12700">
            <a:solidFill>
              <a:srgbClr val="0E2340"/>
            </a:solidFill>
            <a:prstDash val="solid"/>
          </a:ln>
        </p:spPr>
      </p:sp>
      <p:sp>
        <p:nvSpPr>
          <p:cNvPr id="56" name="Shape 40"/>
          <p:cNvSpPr/>
          <p:nvPr/>
        </p:nvSpPr>
        <p:spPr>
          <a:xfrm>
            <a:off x="8823960" y="4773168"/>
            <a:ext cx="0" cy="109728"/>
          </a:xfrm>
          <a:prstGeom prst="line">
            <a:avLst/>
          </a:prstGeom>
          <a:noFill/>
          <a:ln w="12700">
            <a:solidFill>
              <a:srgbClr val="0E2340"/>
            </a:solidFill>
            <a:prstDash val="solid"/>
          </a:ln>
        </p:spPr>
      </p:sp>
      <p:sp>
        <p:nvSpPr>
          <p:cNvPr id="57" name="Shape 41"/>
          <p:cNvSpPr/>
          <p:nvPr/>
        </p:nvSpPr>
        <p:spPr>
          <a:xfrm>
            <a:off x="9372600" y="4773168"/>
            <a:ext cx="0" cy="109728"/>
          </a:xfrm>
          <a:prstGeom prst="line">
            <a:avLst/>
          </a:prstGeom>
          <a:noFill/>
          <a:ln w="12700">
            <a:solidFill>
              <a:srgbClr val="0E2340"/>
            </a:solidFill>
            <a:prstDash val="solid"/>
          </a:ln>
        </p:spPr>
      </p:sp>
      <p:sp>
        <p:nvSpPr>
          <p:cNvPr id="58" name="Shape 42"/>
          <p:cNvSpPr/>
          <p:nvPr/>
        </p:nvSpPr>
        <p:spPr>
          <a:xfrm>
            <a:off x="9921240" y="4773168"/>
            <a:ext cx="0" cy="109728"/>
          </a:xfrm>
          <a:prstGeom prst="line">
            <a:avLst/>
          </a:prstGeom>
          <a:noFill/>
          <a:ln w="12700">
            <a:solidFill>
              <a:srgbClr val="0E2340"/>
            </a:solidFill>
            <a:prstDash val="solid"/>
          </a:ln>
        </p:spPr>
      </p:sp>
      <p:sp>
        <p:nvSpPr>
          <p:cNvPr id="59" name="Shape 43"/>
          <p:cNvSpPr/>
          <p:nvPr/>
        </p:nvSpPr>
        <p:spPr>
          <a:xfrm>
            <a:off x="11338560" y="4773168"/>
            <a:ext cx="0" cy="109728"/>
          </a:xfrm>
          <a:prstGeom prst="line">
            <a:avLst/>
          </a:prstGeom>
          <a:noFill/>
          <a:ln w="12700">
            <a:solidFill>
              <a:srgbClr val="0E2340"/>
            </a:solidFill>
            <a:prstDash val="solid"/>
          </a:ln>
        </p:spPr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41080" y="4919472"/>
            <a:ext cx="365760" cy="365760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8549640" y="53218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800" dirty="0"/>
          </a:p>
        </p:txBody>
      </p:sp>
      <p:pic>
        <p:nvPicPr>
          <p:cNvPr id="6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89720" y="4919472"/>
            <a:ext cx="365760" cy="365760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9098280" y="53218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800" dirty="0"/>
          </a:p>
        </p:txBody>
      </p:sp>
      <p:pic>
        <p:nvPicPr>
          <p:cNvPr id="6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38360" y="4919472"/>
            <a:ext cx="365760" cy="365760"/>
          </a:xfrm>
          <a:prstGeom prst="rect">
            <a:avLst/>
          </a:prstGeom>
        </p:spPr>
      </p:pic>
      <p:sp>
        <p:nvSpPr>
          <p:cNvPr id="65" name="Text 46"/>
          <p:cNvSpPr txBox="1"/>
          <p:nvPr/>
        </p:nvSpPr>
        <p:spPr>
          <a:xfrm>
            <a:off x="9646920" y="53218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800" dirty="0"/>
          </a:p>
        </p:txBody>
      </p:sp>
      <p:sp>
        <p:nvSpPr>
          <p:cNvPr id="66" name="Text 47"/>
          <p:cNvSpPr txBox="1"/>
          <p:nvPr/>
        </p:nvSpPr>
        <p:spPr>
          <a:xfrm>
            <a:off x="10241280" y="4937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600" dirty="0"/>
          </a:p>
        </p:txBody>
      </p:sp>
      <p:pic>
        <p:nvPicPr>
          <p:cNvPr id="6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09960" y="4882896"/>
            <a:ext cx="457200" cy="457200"/>
          </a:xfrm>
          <a:prstGeom prst="rect">
            <a:avLst/>
          </a:prstGeom>
        </p:spPr>
      </p:pic>
      <p:sp>
        <p:nvSpPr>
          <p:cNvPr id="68" name="Text 48"/>
          <p:cNvSpPr txBox="1"/>
          <p:nvPr/>
        </p:nvSpPr>
        <p:spPr>
          <a:xfrm>
            <a:off x="10607040" y="5321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</a:t>
            </a:r>
            <a:endParaRPr lang="en-US" sz="800" dirty="0"/>
          </a:p>
        </p:txBody>
      </p:sp>
      <p:sp>
        <p:nvSpPr>
          <p:cNvPr id="69" name="Shape 49"/>
          <p:cNvSpPr/>
          <p:nvPr/>
        </p:nvSpPr>
        <p:spPr>
          <a:xfrm>
            <a:off x="502920" y="5852160"/>
            <a:ext cx="45720" cy="384048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70" name="Text 50"/>
          <p:cNvSpPr txBox="1"/>
          <p:nvPr/>
        </p:nvSpPr>
        <p:spPr>
          <a:xfrm>
            <a:off x="731520" y="583387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recomendación ya no es solo teórica; ya existe experiencia positiva en nuestro contexto.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914400"/>
            <a:ext cx="2926080" cy="55595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2926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10607040" y="3931920"/>
            <a:ext cx="320040" cy="36576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384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</a:t>
            </a:r>
            <a:pPr indent="0" marL="0">
              <a:buNone/>
            </a:pPr>
            <a:r>
              <a:rPr lang="en-US" sz="2200" b="1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SDD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777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646920" y="384048"/>
            <a:ext cx="45720" cy="621792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802368" y="3840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spc="300" kern="0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POSIBILIDADES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 para discusión interna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6419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CABAAS   </a:t>
            </a:r>
            <a:pPr algn="r" indent="0" marL="0">
              <a:buNone/>
            </a:pPr>
            <a:r>
              <a:rPr lang="en-US" sz="900" b="1" spc="300" kern="0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pPr algn="r" indent="0" marL="0">
              <a:buNone/>
            </a:pPr>
            <a:r>
              <a:rPr lang="en-US" sz="900" spc="3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2026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11887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 y próximos pasos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502920" y="2011680"/>
            <a:ext cx="9144000" cy="960120"/>
          </a:xfrm>
          <a:prstGeom prst="roundRect">
            <a:avLst>
              <a:gd name="adj" fmla="val 1142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685800" cy="6858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645920" y="2148840"/>
            <a:ext cx="0" cy="68580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828800" y="207568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E31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Recomendación: </a:t>
            </a:r>
            <a:pPr indent="0" marL="0">
              <a:spcAft>
                <a:spcPts val="400"/>
              </a:spcAft>
              <a:buNone/>
            </a:pPr>
            <a:r>
              <a:rPr lang="en-US" sz="16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adoptar SpecKit como base inicial de SDD para CABAAS</a:t>
            </a:r>
            <a:endParaRPr lang="en-US" sz="16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su mejor balance entre gobernanza, escalabilidad, extensibilidad y adopción organizacional.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502920" y="315468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— Bundle mínimo</a:t>
            </a:r>
            <a:endParaRPr lang="en-US" sz="11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639312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12648" y="4343400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presets y workflows base de CABAAS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96" y="3931920"/>
            <a:ext cx="320040" cy="3200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670048" y="315468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2715768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— Homologación</a:t>
            </a:r>
            <a:endParaRPr lang="en-US" sz="11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639312"/>
            <a:ext cx="594360" cy="5943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2779776" y="4343400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Extender el uso a otros devs y microservicios</a:t>
            </a:r>
            <a:endParaRPr lang="en-US" sz="1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5424" y="3931920"/>
            <a:ext cx="320040" cy="3200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837176" y="315468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4882896" y="3246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— Evolución</a:t>
            </a:r>
            <a:endParaRPr lang="en-US" sz="11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7256" y="3639312"/>
            <a:ext cx="594360" cy="5943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946904" y="4343400"/>
            <a:ext cx="16550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Agregar extensiones útiles, por ejemplo ADR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7040880" y="315468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DEDEF"/>
          </a:solidFill>
          <a:ln w="12700">
            <a:solidFill>
              <a:srgbClr val="FDEDEF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3246120"/>
            <a:ext cx="411480" cy="41148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662672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clave</a:t>
            </a:r>
            <a:endParaRPr lang="en-US" sz="1500" dirty="0"/>
          </a:p>
        </p:txBody>
      </p:sp>
      <p:sp>
        <p:nvSpPr>
          <p:cNvPr id="34" name="Shape 24"/>
          <p:cNvSpPr/>
          <p:nvPr/>
        </p:nvSpPr>
        <p:spPr>
          <a:xfrm>
            <a:off x="7205472" y="3794760"/>
            <a:ext cx="201168" cy="201168"/>
          </a:xfrm>
          <a:prstGeom prst="ellipse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5706" y="3834994"/>
            <a:ext cx="120701" cy="120701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498080" y="37673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solo para greenfield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7205472" y="4114800"/>
            <a:ext cx="201168" cy="201168"/>
          </a:xfrm>
          <a:prstGeom prst="ellipse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5706" y="4155034"/>
            <a:ext cx="120701" cy="120701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7498080" y="408736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obliga a procesos pesados para cambios pequeños</a:t>
            </a:r>
            <a:endParaRPr lang="en-US" sz="1000" dirty="0"/>
          </a:p>
        </p:txBody>
      </p:sp>
      <p:sp>
        <p:nvSpPr>
          <p:cNvPr id="40" name="Shape 28"/>
          <p:cNvSpPr/>
          <p:nvPr/>
        </p:nvSpPr>
        <p:spPr>
          <a:xfrm>
            <a:off x="7205472" y="4526280"/>
            <a:ext cx="201168" cy="201168"/>
          </a:xfrm>
          <a:prstGeom prst="ellipse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5706" y="4566514"/>
            <a:ext cx="120701" cy="120701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7498080" y="449884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mejor base para crecer sin cambiar de herramienta a mitad del camino</a:t>
            </a:r>
            <a:endParaRPr lang="en-US" sz="1000" dirty="0"/>
          </a:p>
        </p:txBody>
      </p:sp>
      <p:sp>
        <p:nvSpPr>
          <p:cNvPr id="43" name="Shape 30"/>
          <p:cNvSpPr/>
          <p:nvPr/>
        </p:nvSpPr>
        <p:spPr>
          <a:xfrm>
            <a:off x="502920" y="5303520"/>
            <a:ext cx="45720" cy="685800"/>
          </a:xfrm>
          <a:prstGeom prst="rect">
            <a:avLst/>
          </a:prstGeom>
          <a:solidFill>
            <a:srgbClr val="E3141E"/>
          </a:solidFill>
          <a:ln w="12700">
            <a:solidFill>
              <a:srgbClr val="E3141E"/>
            </a:solidFill>
            <a:prstDash val="solid"/>
          </a:ln>
        </p:spPr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520" y="5285232"/>
            <a:ext cx="731520" cy="731520"/>
          </a:xfrm>
          <a:prstGeom prst="rect">
            <a:avLst/>
          </a:prstGeom>
        </p:spPr>
      </p:pic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5138928"/>
            <a:ext cx="274320" cy="274320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1691640" y="5257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bien la base hoy reduce fricción mañana.</a:t>
            </a:r>
            <a:endParaRPr lang="en-US" sz="2600" dirty="0"/>
          </a:p>
        </p:txBody>
      </p:sp>
      <p:sp>
        <p:nvSpPr>
          <p:cNvPr id="47" name="Text 32"/>
          <p:cNvSpPr txBox="1"/>
          <p:nvPr/>
        </p:nvSpPr>
        <p:spPr>
          <a:xfrm>
            <a:off x="1709928" y="5806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400" kern="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MISMAS PERSONAS. MÁS POSIBILIDADES.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SpecKit vs OpenSpec vs BMAD — CABAAS</dc:title>
  <dc:subject>PptxGenJS Presentation</dc:subject>
  <dc:creator>PptxGenJS</dc:creator>
  <cp:lastModifiedBy>PptxGenJS</cp:lastModifiedBy>
  <cp:revision>1</cp:revision>
  <dcterms:created xsi:type="dcterms:W3CDTF">2026-09-21T20:40:27Z</dcterms:created>
  <dcterms:modified xsi:type="dcterms:W3CDTF">2026-09-21T20:40:27Z</dcterms:modified>
</cp:coreProperties>
</file>