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CCA · CREDIT CARD SUPPORT — GITHUB COPILOT + SPEC KIT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118560" y="1280160"/>
            <a:ext cx="2661655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pic>
        <p:nvPicPr>
          <p:cNvPr id="4" name="Image 0" descr="/home/claude/lib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0000" y="1371600"/>
            <a:ext cx="2478775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herramienta poderosa sin método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6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potencial desperdiciado.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rueda usada como mesa.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hombre que quiso vender la rueda”</a:t>
            </a:r>
            <a:pPr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Cox &amp; Howard Stevens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50992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56509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tenemos la rueda: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Copilot.</a:t>
            </a:r>
            <a:pPr indent="0" marL="0">
              <a:buNone/>
            </a:pPr>
            <a:r>
              <a:rPr lang="en-US" sz="1500" dirty="0">
                <a:solidFill>
                  <a:srgbClr val="FF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pregunta es el método.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 · EL NIVEL TÉCNICO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método importa: un Segundo Cerebro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Forte · </a:t>
            </a:r>
            <a:pPr indent="0" marL="0">
              <a:buNone/>
            </a:pPr>
            <a:r>
              <a:rPr lang="en-US" sz="1500" b="1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C.O.D.E</a:t>
            </a:r>
            <a:pPr indent="0" marL="0">
              <a:buNone/>
            </a:pPr>
            <a:r>
              <a:rPr lang="en-US" sz="15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el método que organiza el conocimiento para poder usarlo.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0487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8E9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5117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lo que importa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032" y="240487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BC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55117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3429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por uso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40487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C850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55117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Distill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37960" y="3429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Destilar lo esencial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8972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45752" y="240487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7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55117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418320" y="3429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Expresar / aplicar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11091672" cy="2057400"/>
          </a:xfrm>
          <a:prstGeom prst="roundRect">
            <a:avLst>
              <a:gd name="adj" fmla="val 4444"/>
            </a:avLst>
          </a:prstGeom>
          <a:solidFill>
            <a:srgbClr val="FCEBEC"/>
          </a:solidFill>
          <a:ln w="12700">
            <a:solidFill>
              <a:srgbClr val="F3B6B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26280"/>
            <a:ext cx="777240" cy="7772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74520" y="4389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0E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mismo método construye el Segundo Cerebro de la IA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1874520" y="48920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Segundo Cerebro personal</a:t>
            </a:r>
            <a:pPr indent="0" marL="0">
              <a:buNone/>
            </a:pPr>
            <a:r>
              <a:rPr lang="en-US" sz="14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Runbook C.O.D.E para Outlook / OneNote)  →  </a:t>
            </a:r>
            <a:pPr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Cerebro de la IA</a:t>
            </a:r>
            <a:pPr indent="0" marL="0">
              <a:buNone/>
            </a:pPr>
            <a:r>
              <a:rPr lang="en-US" sz="14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874520" y="53492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pPr indent="0" marL="0">
              <a:buNone/>
            </a:pPr>
            <a:r>
              <a:rPr lang="en-US" sz="13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b="1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pPr indent="0" marL="0">
              <a:buNone/>
            </a:pPr>
            <a:r>
              <a:rPr lang="en-US" sz="13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b="1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docs/context/</a:t>
            </a:r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el contexto curado que convierte al agente en un SME del banco.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100297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AGITAMOS · QUÉ PASA SIN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lineamientos, la IA improvisa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es potente, pero sin reglas ni contexto genera lo que cada prompt sugiere — no lo que el banco necesita.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500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las convenciones del repo (capas, @Qualifier, mappers)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1693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8529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catch vacíos, printStackTrace, TODOs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8386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4198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 lo que no debe — riesgo PCI con datos de tarjeta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5079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9867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dev obtiene un estilo distinto: no es reproducible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617720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45537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no pasa una revisión para producción bancaria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858000" y="2148840"/>
            <a:ext cx="4782312" cy="3154680"/>
          </a:xfrm>
          <a:prstGeom prst="roundRect">
            <a:avLst>
              <a:gd name="adj" fmla="val 2899"/>
            </a:avLst>
          </a:prstGeom>
          <a:solidFill>
            <a:srgbClr val="F7F6F3"/>
          </a:solidFill>
          <a:ln w="19050">
            <a:solidFill>
              <a:srgbClr val="ED1C24"/>
            </a:solidFill>
            <a:prstDash val="dash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2743200"/>
            <a:ext cx="640080" cy="6400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352044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7132320" y="3931920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SIN Spec Kit · un compañero intenta la fase 1 sin lineamientos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(2-3 min · screenshot/GIF de respaldo aquí)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548640" y="571500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CEBEC"/>
          </a:solidFill>
          <a:ln w="12700">
            <a:solidFill>
              <a:srgbClr val="ED1C24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861304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78992" y="5715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AhaSlides  </a:t>
            </a:r>
            <a:pPr indent="0" marL="0"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"¿Aprobarías este código para producción bancaria?"</a:t>
            </a:r>
            <a:endParaRPr lang="en-US" sz="1050" dirty="0"/>
          </a:p>
        </p:txBody>
      </p:sp>
      <p:sp>
        <p:nvSpPr>
          <p:cNvPr id="22" name="Text 13"/>
          <p:cNvSpPr/>
          <p:nvPr/>
        </p:nvSpPr>
        <p:spPr>
          <a:xfrm>
            <a:off x="1100297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 · EL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Kit: decidir QUÉ y CÓMO antes de escribir código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2468880" cy="82296"/>
          </a:xfrm>
          <a:prstGeom prst="rect">
            <a:avLst/>
          </a:prstGeom>
          <a:solidFill>
            <a:srgbClr val="2F8E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671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9E7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/specify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va a construir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54096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29000" y="187452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874520"/>
            <a:ext cx="2468880" cy="82296"/>
          </a:xfrm>
          <a:prstGeom prst="rect">
            <a:avLst/>
          </a:prstGeom>
          <a:solidFill>
            <a:srgbClr val="7A5BC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671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9E7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7033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0332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Cómo, técnicamente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34456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6309360" y="187452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874520"/>
            <a:ext cx="2468880" cy="82296"/>
          </a:xfrm>
          <a:prstGeom prst="rect">
            <a:avLst/>
          </a:prstGeom>
          <a:solidFill>
            <a:srgbClr val="BC850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6712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9E7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5836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8368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accionables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814816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9189720" y="187452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89720" y="1874520"/>
            <a:ext cx="2468880" cy="82296"/>
          </a:xfrm>
          <a:prstGeom prst="rect">
            <a:avLst/>
          </a:prstGeom>
          <a:solidFill>
            <a:srgbClr val="1E9E7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16712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0185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9E7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94640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/implement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46404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cumple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4023360"/>
            <a:ext cx="6400800" cy="1143000"/>
          </a:xfrm>
          <a:prstGeom prst="roundRect">
            <a:avLst>
              <a:gd name="adj" fmla="val 7200"/>
            </a:avLst>
          </a:prstGeom>
          <a:solidFill>
            <a:srgbClr val="FCEBEC"/>
          </a:solidFill>
          <a:ln w="12700">
            <a:solidFill>
              <a:srgbClr val="ED1C24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15968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54480" y="4160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arnés</a:t>
            </a:r>
            <a:pPr indent="0" marL="0">
              <a:buNone/>
            </a:pPr>
            <a:r>
              <a:rPr lang="en-US" sz="13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 paso respeta PCI, idempotencia y los gates de testing.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7269480" y="4023360"/>
            <a:ext cx="4370832" cy="1691640"/>
          </a:xfrm>
          <a:prstGeom prst="roundRect">
            <a:avLst>
              <a:gd name="adj" fmla="val 5405"/>
            </a:avLst>
          </a:prstGeom>
          <a:solidFill>
            <a:srgbClr val="F7F6F3"/>
          </a:solidFill>
          <a:ln w="19050">
            <a:solidFill>
              <a:srgbClr val="1E9E72"/>
            </a:solidFill>
            <a:prstDash val="dash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29768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138160" y="4315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EN VIVO — con Spec Kit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543800" y="4892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cambio, con método. El agente respeta las reglas en tiempo real. (screenshot/GIF de respaldo)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548640" y="585216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CEBEC"/>
          </a:solidFill>
          <a:ln w="12700">
            <a:solidFill>
              <a:srgbClr val="ED1C24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998464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78992" y="5852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AhaSlides  </a:t>
            </a:r>
            <a:pPr indent="0" marL="0"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"¿respetará la regla de no loguear PAN?"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1100297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 · EL MARCO QUE LO SOSTIENE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Engineering: enmarcamos la IA, no la soltamos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buNone/>
            </a:pPr>
            <a:r>
              <a:rPr lang="en-US" sz="1450" b="1" dirty="0">
                <a:solidFill>
                  <a:srgbClr val="C2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(arnés)</a:t>
            </a:r>
            <a:pPr indent="0" marL="0">
              <a:buNone/>
            </a:pPr>
            <a:r>
              <a:rPr lang="en-US" sz="14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sistema, entorno y reglas que rodean al agente de IA para controlarlo, darle contexto y validar su trabajo.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4572000" cy="3657600"/>
          </a:xfrm>
          <a:prstGeom prst="roundRect">
            <a:avLst>
              <a:gd name="adj" fmla="val 2500"/>
            </a:avLst>
          </a:prstGeom>
          <a:solidFill>
            <a:srgbClr val="FCEBEC"/>
          </a:solidFill>
          <a:ln w="12700">
            <a:solidFill>
              <a:srgbClr val="F3B6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42032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5786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ARNÉS DE NUESTRO EQUIPO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dejamos a Copilot generar al azar: lo rodeamos de un arnés que lo sujeta en cada paso.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480560"/>
            <a:ext cx="3977640" cy="0"/>
          </a:xfrm>
          <a:prstGeom prst="line">
            <a:avLst/>
          </a:prstGeom>
          <a:noFill/>
          <a:ln w="12700">
            <a:solidFill>
              <a:srgbClr val="F3B6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61772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pPr indent="0" marL="0">
              <a:buNone/>
            </a:pPr>
            <a:r>
              <a:rPr lang="en-US" sz="13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pieza del arnés que controla cómo se comunica la IA y los pasos que sigue.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40680" y="2194560"/>
            <a:ext cx="6199632" cy="841248"/>
          </a:xfrm>
          <a:prstGeom prst="roundRect">
            <a:avLst>
              <a:gd name="adj" fmla="val 8696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78424" y="238658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8E9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250088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36792" y="2304288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Entorno de ejecución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642616"/>
            <a:ext cx="5102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IntelliJ Ultimate + GitHub Copilot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40680" y="3159252"/>
            <a:ext cx="6199632" cy="841248"/>
          </a:xfrm>
          <a:prstGeom prst="roundRect">
            <a:avLst>
              <a:gd name="adj" fmla="val 8696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78424" y="335127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346557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3268980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Restricciones y reglas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36792" y="3607308"/>
            <a:ext cx="5102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 + copilot-instructions.md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40680" y="4123944"/>
            <a:ext cx="6199632" cy="841248"/>
          </a:xfrm>
          <a:prstGeom prst="roundRect">
            <a:avLst>
              <a:gd name="adj" fmla="val 8696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78424" y="431596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C850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443026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36792" y="4233672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conectadas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336792" y="4572000"/>
            <a:ext cx="5102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agente lee el repo y corre gradlew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40680" y="5088636"/>
            <a:ext cx="6199632" cy="841248"/>
          </a:xfrm>
          <a:prstGeom prst="roundRect">
            <a:avLst>
              <a:gd name="adj" fmla="val 8696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678424" y="52806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7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724" y="539496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36792" y="5198364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Bucles de retroalimentación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336792" y="5536692"/>
            <a:ext cx="5102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tests, gates y /speckit.analyze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1100297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 · GOBERNANZA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 vibe coding. Es desarrollo con arnés.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reproducible y replicable — lo que un entorno bancario exige.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0662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963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Constitution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PCI, idempotencia y resiliencia como principios no negociables de cada spec.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214884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20840" y="25146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C850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70662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4963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de código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80960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del banco aplicados siempre (sin catch vacíos, sin loguear tarjetas).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4805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B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67258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622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curado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828800" y="4892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Cerebro: AGENTS.md + docs/context guían al agente como un SME.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0" y="411480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14300" dist="38100" dir="8100000">
              <a:srgbClr val="23262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20840" y="44805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8E9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672584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4622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Consumo controlado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80960" y="4892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premium requests y reservas para eventos críticos (pases a prod).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00297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 · ESCALAR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1 dev a todo el equipo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vieron hoy no es un experimento de una persona — es un playbook replicable.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E323A"/>
          </a:solidFill>
          <a:ln w="12700">
            <a:solidFill>
              <a:srgbClr val="3C42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971800"/>
            <a:ext cx="731520" cy="731520"/>
          </a:xfrm>
          <a:prstGeom prst="ellipse">
            <a:avLst/>
          </a:prstGeom>
          <a:solidFill>
            <a:srgbClr val="23262B"/>
          </a:solidFill>
          <a:ln w="19050">
            <a:solidFill>
              <a:srgbClr val="FF6A6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1455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Mismos archivos, 4 entornos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224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constitution, instructions y AGENTS se replican en cada repo.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697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E323A"/>
          </a:solidFill>
          <a:ln w="12700">
            <a:solidFill>
              <a:srgbClr val="3C42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971800"/>
            <a:ext cx="731520" cy="731520"/>
          </a:xfrm>
          <a:prstGeom prst="ellipse">
            <a:avLst/>
          </a:prstGeom>
          <a:solidFill>
            <a:srgbClr val="23262B"/>
          </a:solidFill>
          <a:ln w="19050">
            <a:solidFill>
              <a:srgbClr val="FF6A6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31455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playbook compartido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9160" y="4224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cca-copilot-playbook: una sola fuente, versionada, para todo el equipo.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2697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E323A"/>
          </a:solidFill>
          <a:ln w="12700">
            <a:solidFill>
              <a:srgbClr val="3C424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49640" y="2971800"/>
            <a:ext cx="731520" cy="731520"/>
          </a:xfrm>
          <a:prstGeom prst="ellipse">
            <a:avLst/>
          </a:prstGeom>
          <a:solidFill>
            <a:srgbClr val="23262B"/>
          </a:solidFill>
          <a:ln w="19050">
            <a:solidFill>
              <a:srgbClr val="FF6A6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314553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brownfield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4224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los repos legacy del banco, no para greenfield ideal.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2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rueda ya la tenemos. </a:t>
            </a:r>
            <a:pPr indent="0" marL="0">
              <a:buNone/>
            </a:pPr>
            <a:r>
              <a:rPr lang="en-US" sz="1800" b="1" dirty="0">
                <a:solidFill>
                  <a:srgbClr val="FF6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 les mostramos el método.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CEBEC"/>
          </a:solidFill>
          <a:ln w="12700">
            <a:solidFill>
              <a:srgbClr val="ED1C2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86130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5715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AhaSlides  </a:t>
            </a:r>
            <a:pPr indent="0" marL="0"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tan listo te sentís para adoptarlo?"  (escala 1-5)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002975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 Kit + GitHub Copilot — Workshop CCA</dc:title>
  <dc:subject>PptxGenJS Presentation</dc:subject>
  <dc:creator>Alvaro Núñez</dc:creator>
  <cp:lastModifiedBy>Alvaro Núñez</cp:lastModifiedBy>
  <cp:revision>1</cp:revision>
  <dcterms:created xsi:type="dcterms:W3CDTF">2026-06-02T03:22:42Z</dcterms:created>
  <dcterms:modified xsi:type="dcterms:W3CDTF">2026-06-02T03:22:42Z</dcterms:modified>
</cp:coreProperties>
</file>